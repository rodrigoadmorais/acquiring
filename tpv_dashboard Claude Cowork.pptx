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5943600" cy="73152"/>
          </a:xfrm>
          <a:prstGeom prst="rect">
            <a:avLst/>
          </a:prstGeom>
          <a:solidFill>
            <a:srgbClr val="3D3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3035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3938"/>
                </a:solidFill>
                <a:latin typeface="Arial"/>
              </a:rPr>
              <a:t>Channel TPV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3938"/>
                </a:solidFill>
                <a:latin typeface="Arial"/>
              </a:rPr>
              <a:t>Plan vs Actual  ·  2025 &amp; 2026 YTD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3938"/>
                </a:solidFill>
                <a:latin typeface="Arial"/>
              </a:rPr>
              <a:t>Mar'26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233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Channels: CANAIS DIGITAIS  ·  FDV PROPRIA  ·  FDV TERCEIRA
MGM  ·  PARTNERS ONLINE  ·  RESELLERS  ·  TELEVENDAS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mercado
pago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FP&amp;A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Summary | All Channels — Actual vs Plan |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117957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CANAIS DIGITAIS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23.1B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+22.0%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2.1B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-13.7%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1.2B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+151.3%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+99.3%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483M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-38.1%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-18.8%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399M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-66.1%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-55.6%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FDV PROPRIA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11.8B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+17.1%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794M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-34.9%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+30.8%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529M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+267.8%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+303.9%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148M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-60.7%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-18.3%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117M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-83.3%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-60.3%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FDV TERCEIRA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4.0B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-0.3%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157M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-46.7%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-45.3%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105M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+165.5%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+31.0%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-72.2%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-64.7%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-84.5%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-81.3%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MGM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3.4B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+30.2%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154M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-50.2%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-48.0%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98M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+119.5%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+16.9%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31M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-69.7%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-61.4%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-84.4%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-80.8%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PARTNERS ONLINE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690M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-14.1%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-39.4%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+19.2%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-59.3%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-76.1%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RESELLERS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+14.1%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240M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-37.5%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-41.1%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146M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+134.1%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YoY: +17.6%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52M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-57.8%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-54.8%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-78.8%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-75.0%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3938"/>
                </a:solidFill>
                <a:latin typeface="Arial"/>
              </a:rPr>
              <a:t>TELEVENDAS  |  TPV Evolution  |  Mar'26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73152"/>
            <a:ext cx="658368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Managerial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52760" y="73152"/>
            <a:ext cx="658368" cy="32004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93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  <a:latin typeface="Arial"/>
              </a:rP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0" y="73152"/>
            <a:ext cx="658368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5136" y="9144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7863840" cy="30632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66928"/>
            <a:ext cx="3931920" cy="3063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2025 Full Year — Actual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-26.5%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2026 YTD Jan–Mar — Actual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49M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-10.2%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-60.5%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0328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Jan'26 — Actual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32M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34A853"/>
                </a:solidFill>
                <a:latin typeface="Arial"/>
              </a:rPr>
              <a:t>vs Plan: +384.8%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-4.2%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Feb'26 — Actual vs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10M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-45.8%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-72.6%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3496" y="3749039"/>
            <a:ext cx="233172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648" y="37856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3D3938"/>
                </a:solidFill>
                <a:latin typeface="Arial"/>
              </a:rPr>
              <a:t>Mar'26 — Actual vs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986783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4242815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vs Plan: -74.1%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416551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0000"/>
                </a:solidFill>
                <a:latin typeface="Arial"/>
              </a:rPr>
              <a:t>YoY: -86.0%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7160" y="3657600"/>
            <a:ext cx="1184148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160" y="507492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66666"/>
                </a:solidFill>
                <a:latin typeface="Arial"/>
              </a:rPr>
              <a:t>* Feb'26 and Mar'26 actuals include M0 lifecycle only (M1/TRIANGLE data pending processing).  Plan 2026 Jan includes M0 only per cohort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